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0" y="4160520"/>
            <a:ext cx="3017520" cy="150876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017520" y="4160520"/>
            <a:ext cx="2834640" cy="150876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937760" y="3520440"/>
            <a:ext cx="2834640" cy="214884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0" y="3520440"/>
            <a:ext cx="3017520" cy="214884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229600" y="4297680"/>
            <a:ext cx="1828800" cy="137160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4297680"/>
            <a:ext cx="2130552" cy="1371600"/>
          </a:xfrm>
          <a:prstGeom prst="line">
            <a:avLst/>
          </a:prstGeom>
          <a:ln w="29209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829800" y="713232"/>
            <a:ext cx="960120" cy="960120"/>
          </a:xfrm>
          <a:prstGeom prst="ellipse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713232"/>
            <a:ext cx="5029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9D9D8"/>
                </a:solidFill>
                <a:latin typeface="Aptos"/>
              </a:rPr>
              <a:t>生成AI基礎とビジネス応用  •  FINAL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01952"/>
            <a:ext cx="75895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ptos Display"/>
              </a:rPr>
              <a:t>Toyama Buddy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16352"/>
            <a:ext cx="75895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0" i="0">
                <a:solidFill>
                  <a:srgbClr val="D7E9E8"/>
                </a:solidFill>
                <a:latin typeface="Aptos"/>
              </a:rPr>
              <a:t>A weather-aware AI travel guide
for foreign visitors to Toyama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" y="4160520"/>
            <a:ext cx="1170432" cy="64008"/>
          </a:xfrm>
          <a:prstGeom prst="rect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4590288"/>
            <a:ext cx="6858000" cy="49859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500" dirty="0">
                <a:solidFill>
                  <a:srgbClr val="C7D7D7"/>
                </a:solidFill>
                <a:latin typeface="Aptos"/>
              </a:rPr>
              <a:t>Arshad Muhammad Bilal </a:t>
            </a:r>
          </a:p>
          <a:p>
            <a:pPr algn="l"/>
            <a:r>
              <a:rPr lang="en-US" sz="1500" b="0" i="0" dirty="0">
                <a:solidFill>
                  <a:srgbClr val="C7D7D7"/>
                </a:solidFill>
                <a:latin typeface="Aptos"/>
              </a:rPr>
              <a:t>226C1059</a:t>
            </a:r>
            <a:endParaRPr sz="1500" b="0" i="0" dirty="0">
              <a:solidFill>
                <a:srgbClr val="C7D7D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5454646"/>
            <a:ext cx="7772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7D7D7"/>
                </a:solidFill>
                <a:latin typeface="Aptos"/>
              </a:rPr>
              <a:t>Verified local knowledge + live weather-aware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THE TRAVEL-PLANNING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Visitors need answers that stay true
to conditions on the ground.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368296"/>
            <a:ext cx="146304" cy="146304"/>
          </a:xfrm>
          <a:prstGeom prst="ellipse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2286000"/>
            <a:ext cx="3136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Information is fragmented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569464"/>
            <a:ext cx="313639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Japanese-only signage and scattered tourism details make planning harder.</a:t>
            </a:r>
          </a:p>
        </p:txBody>
      </p:sp>
      <p:sp>
        <p:nvSpPr>
          <p:cNvPr id="9" name="Oval 8"/>
          <p:cNvSpPr/>
          <p:nvPr/>
        </p:nvSpPr>
        <p:spPr>
          <a:xfrm>
            <a:off x="4370832" y="2368296"/>
            <a:ext cx="146304" cy="146304"/>
          </a:xfrm>
          <a:prstGeom prst="ellipse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313639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Weather can change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69464"/>
            <a:ext cx="313639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Outdoor highlights such as the Alpine Route need a viable backup.</a:t>
            </a:r>
          </a:p>
        </p:txBody>
      </p:sp>
      <p:sp>
        <p:nvSpPr>
          <p:cNvPr id="12" name="Oval 11"/>
          <p:cNvSpPr/>
          <p:nvPr/>
        </p:nvSpPr>
        <p:spPr>
          <a:xfrm>
            <a:off x="7973568" y="2368296"/>
            <a:ext cx="146304" cy="146304"/>
          </a:xfrm>
          <a:prstGeom prst="ellipse">
            <a:avLst/>
          </a:prstGeom>
          <a:solidFill>
            <a:srgbClr val="C44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6" y="2286000"/>
            <a:ext cx="309067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Generic chatbots can hallucinate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930652"/>
            <a:ext cx="309067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 dirty="0">
                <a:solidFill>
                  <a:srgbClr val="66757A"/>
                </a:solidFill>
                <a:latin typeface="Aptos"/>
              </a:rPr>
              <a:t>Facts, prices, and even the current date can be confidently invented.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120640"/>
            <a:ext cx="10835640" cy="685800"/>
          </a:xfrm>
          <a:prstGeom prst="roundRect">
            <a:avLst>
              <a:gd name="adj" fmla="val 12000"/>
            </a:avLst>
          </a:prstGeom>
          <a:solidFill>
            <a:srgbClr val="12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2"/>
            <a:ext cx="103327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The consequence: visitors may receive plausible answers that are neither current nor trustworthy.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One travel assistant. Two layers of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91640"/>
            <a:ext cx="96926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66757A"/>
                </a:solidFill>
                <a:latin typeface="Aptos"/>
              </a:rPr>
              <a:t>Toyama Buddy grounds tourism answers in curated sources and checks live weather before outdoor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87168"/>
            <a:ext cx="109728" cy="2331720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89864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RAG  •  grounded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82112"/>
            <a:ext cx="2944368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14 curated Toyama documents provide factual context. Answers are cited so visitors can trace the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487168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98264" y="2487168"/>
            <a:ext cx="109728" cy="2331720"/>
          </a:xfrm>
          <a:prstGeom prst="rect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3" y="2743200"/>
            <a:ext cx="289864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AGENT  •  weather-aware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3" y="3182112"/>
            <a:ext cx="2944368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The agent decides when to retrieve a live forecast and adapts recommendations to outdoor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487168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5008" y="2487168"/>
            <a:ext cx="109728" cy="2331720"/>
          </a:xfrm>
          <a:prstGeom prst="rect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743200"/>
            <a:ext cx="2898648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MULTILINGUAL  •  accessible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82112"/>
            <a:ext cx="2944368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Tested in English and Japanese so international visitors can ask naturally.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1060704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12343B"/>
                </a:solidFill>
                <a:latin typeface="Aptos Display"/>
              </a:rPr>
              <a:t>Design principle: do not ask a model to “know” the answer when it can retrieve or verify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The model chooses the right tool —
retrieval for facts, weather for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1993392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423160"/>
            <a:ext cx="109728" cy="1280160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79191"/>
            <a:ext cx="1490472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18104"/>
            <a:ext cx="1536192" cy="4114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Gradio chat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249424"/>
            <a:ext cx="2423160" cy="1664208"/>
          </a:xfrm>
          <a:prstGeom prst="roundRect">
            <a:avLst>
              <a:gd name="adj" fmla="val 12000"/>
            </a:avLst>
          </a:prstGeom>
          <a:solidFill>
            <a:srgbClr val="12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2542032"/>
            <a:ext cx="1920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 Display"/>
              </a:rPr>
              <a:t>Gemini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035808"/>
            <a:ext cx="1874519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D3E8E7"/>
                </a:solidFill>
                <a:latin typeface="Aptos"/>
              </a:rPr>
              <a:t>Autonomous tool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96596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79" y="1965960"/>
            <a:ext cx="109728" cy="1143000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2221991"/>
            <a:ext cx="1280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search_kb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60904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Verified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13632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3913632"/>
            <a:ext cx="109728" cy="1143000"/>
          </a:xfrm>
          <a:prstGeom prst="rect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0" y="4169664"/>
            <a:ext cx="12801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get_weather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608576"/>
            <a:ext cx="1325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Live forecast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928" y="1600200"/>
            <a:ext cx="1737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710928" y="1600200"/>
            <a:ext cx="109728" cy="1783080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85248" y="1856232"/>
            <a:ext cx="12344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2295144"/>
            <a:ext cx="12801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14 curated
Toyama documents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3703320"/>
            <a:ext cx="1737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10928" y="3703320"/>
            <a:ext cx="109728" cy="1783080"/>
          </a:xfrm>
          <a:prstGeom prst="rect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85248" y="3959352"/>
            <a:ext cx="12344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Open-Meteo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4398264"/>
            <a:ext cx="12801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Live 3-day
forecast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79192" y="3063240"/>
            <a:ext cx="1389888" cy="0"/>
          </a:xfrm>
          <a:prstGeom prst="line">
            <a:avLst/>
          </a:prstGeom>
          <a:ln w="22860">
            <a:solidFill>
              <a:srgbClr val="667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492240" y="2542032"/>
            <a:ext cx="1005839" cy="292608"/>
          </a:xfrm>
          <a:prstGeom prst="line">
            <a:avLst/>
          </a:prstGeom>
          <a:ln w="22860">
            <a:solidFill>
              <a:srgbClr val="667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92240" y="3310128"/>
            <a:ext cx="1005839" cy="1170432"/>
          </a:xfrm>
          <a:prstGeom prst="line">
            <a:avLst/>
          </a:prstGeom>
          <a:ln w="22860">
            <a:solidFill>
              <a:srgbClr val="667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81160" y="2542032"/>
            <a:ext cx="429768" cy="0"/>
          </a:xfrm>
          <a:prstGeom prst="line">
            <a:avLst/>
          </a:prstGeom>
          <a:ln w="22860">
            <a:solidFill>
              <a:srgbClr val="667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81160" y="4480560"/>
            <a:ext cx="429768" cy="0"/>
          </a:xfrm>
          <a:prstGeom prst="line">
            <a:avLst/>
          </a:prstGeom>
          <a:ln w="22860">
            <a:solidFill>
              <a:srgbClr val="6675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9808" y="5596128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66757A"/>
                </a:solidFill>
                <a:latin typeface="Aptos"/>
              </a:rPr>
              <a:t>Built in Google Colab with the Gemini API — tool use is model-directed, not hardcoded.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DEMO: THE KEY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41248"/>
            <a:ext cx="1051560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300" b="1" i="0" dirty="0">
                <a:solidFill>
                  <a:srgbClr val="FFFFFF"/>
                </a:solidFill>
                <a:latin typeface="Aptos Display"/>
              </a:rPr>
              <a:t>A recommendation that responds to the mountain — not just the 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5074920" cy="3584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2121408"/>
            <a:ext cx="4480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E5A63"/>
                </a:solidFill>
                <a:latin typeface="Aptos"/>
              </a:rPr>
              <a:t>VISITOR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1" y="2423160"/>
            <a:ext cx="4343400" cy="621792"/>
          </a:xfrm>
          <a:prstGeom prst="roundRect">
            <a:avLst>
              <a:gd name="adj" fmla="val 12000"/>
            </a:avLst>
          </a:prstGeom>
          <a:solidFill>
            <a:srgbClr val="EA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596896"/>
            <a:ext cx="3977639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12343B"/>
                </a:solidFill>
                <a:latin typeface="Aptos"/>
              </a:rPr>
              <a:t>Can I visit the Alpine Route tomorrow?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337560"/>
            <a:ext cx="4480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D06B3F"/>
                </a:solidFill>
                <a:latin typeface="Aptos"/>
              </a:rPr>
              <a:t>TOYAMA BUDDY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3621024"/>
            <a:ext cx="4343400" cy="1325880"/>
          </a:xfrm>
          <a:prstGeom prst="roundRect">
            <a:avLst>
              <a:gd name="adj" fmla="val 12000"/>
            </a:avLst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813048"/>
            <a:ext cx="3886200" cy="8961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2343B"/>
                </a:solidFill>
                <a:latin typeface="Aptos"/>
              </a:rPr>
              <a:t>I’ll check Murodo conditions first.
If weather is unfavorable, I’ll suggest an indoor alternative.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2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B9D9D8"/>
                </a:solidFill>
                <a:latin typeface="Aptos"/>
              </a:rPr>
              <a:t>AGENT 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87168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E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487168"/>
            <a:ext cx="109728" cy="713232"/>
          </a:xfrm>
          <a:prstGeom prst="rect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1  Pinpoint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71216"/>
            <a:ext cx="3931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7D7D7"/>
                </a:solidFill>
                <a:latin typeface="Aptos"/>
              </a:rPr>
              <a:t>Murodo / Alpine Route — not Toyama 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29000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E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429000"/>
            <a:ext cx="109728" cy="713232"/>
          </a:xfrm>
          <a:prstGeom prst="rect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547872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2  Call live 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813048"/>
            <a:ext cx="3931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7D7D7"/>
                </a:solidFill>
                <a:latin typeface="Aptos"/>
              </a:rPr>
              <a:t>Mountain forecast for the specific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370832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1E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4370832"/>
            <a:ext cx="109728" cy="713232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489704"/>
            <a:ext cx="3931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3  Adapt the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54880"/>
            <a:ext cx="39319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7D7D7"/>
                </a:solidFill>
                <a:latin typeface="Aptos"/>
              </a:rPr>
              <a:t>Outdoor recommendation or indoor backup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Tools turn confident guesses into
verifiable travel guidance.</a:t>
            </a:r>
          </a:p>
        </p:txBody>
      </p:sp>
      <p:pic>
        <p:nvPicPr>
          <p:cNvPr id="6" name="Picture 5" descr="evalu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56816"/>
            <a:ext cx="5715000" cy="32369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47104" y="1979676"/>
            <a:ext cx="4828032" cy="32735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0" y="2267712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"/>
              </a:rPr>
              <a:t>TODAY’S WEATHER IN TOYAMA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679192"/>
            <a:ext cx="40690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D06B3F"/>
                </a:solidFill>
                <a:latin typeface="Aptos Display"/>
              </a:rPr>
              <a:t>Plain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063240"/>
            <a:ext cx="4023360" cy="6217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“As of today, Monday, May 20, 2024…”
Wrong date • invented weather • no real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977639"/>
            <a:ext cx="40690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E5A63"/>
                </a:solidFill>
                <a:latin typeface="Aptos Display"/>
              </a:rPr>
              <a:t>Toyama Buddy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361688"/>
            <a:ext cx="402336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Live forecast via API
73% chance of rain • weather-aware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504688"/>
            <a:ext cx="105156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12343B"/>
                </a:solidFill>
                <a:latin typeface="Aptos Display"/>
              </a:rPr>
              <a:t>Across 6 test questions: Toyama Buddy used a tool 6/6 times and cited sources 5/6 times.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A deployable concierge for tourism
operators and hospitality partners.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109728" cy="2331720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587752"/>
            <a:ext cx="28803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Target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6663"/>
            <a:ext cx="2926080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Foreign tourists with limited Japanese who are planning weather-dependent trips.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2331720"/>
            <a:ext cx="109728" cy="2331720"/>
          </a:xfrm>
          <a:prstGeom prst="rect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587752"/>
            <a:ext cx="28803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Potential adopters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026663"/>
            <a:ext cx="2926080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Toyama tourism association, hotels and ryokan, and tourist information centers.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331720"/>
            <a:ext cx="338328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3296" y="2331720"/>
            <a:ext cx="109728" cy="2331720"/>
          </a:xfrm>
          <a:prstGeom prst="rect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7616" y="2587752"/>
            <a:ext cx="288036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Aptos Display"/>
              </a:rPr>
              <a:t>Competitive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3026663"/>
            <a:ext cx="2926080" cy="1463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66757A"/>
                </a:solidFill>
                <a:latin typeface="Aptos"/>
              </a:rPr>
              <a:t>Always current. Always sourced. Always in the visitor’s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66360"/>
            <a:ext cx="10744200" cy="548640"/>
          </a:xfrm>
          <a:prstGeom prst="roundRect">
            <a:avLst>
              <a:gd name="adj" fmla="val 12000"/>
            </a:avLst>
          </a:prstGeom>
          <a:solidFill>
            <a:srgbClr val="123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321808"/>
            <a:ext cx="1019556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From a generic chatbot to an operationally useful, up-to-date visitor 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5A63"/>
                </a:solidFill>
                <a:latin typeface="Aptos Display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347472"/>
            <a:ext cx="822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0E5A63"/>
                </a:solidFill>
                <a:latin typeface="Aptos Display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960120" cy="32004"/>
          </a:xfrm>
          <a:prstGeom prst="rect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996696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2343B"/>
                </a:solidFill>
                <a:latin typeface="Aptos Display"/>
              </a:rPr>
              <a:t>The prototype proves the workflow.
The next step is production readiness.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46634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06B3F"/>
                </a:solidFill>
                <a:latin typeface="Aptos"/>
              </a:rPr>
              <a:t>CURRENT LIMITATIONS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146304" cy="146304"/>
          </a:xfrm>
          <a:prstGeom prst="ellipse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606040"/>
            <a:ext cx="446227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Manually curated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889504"/>
            <a:ext cx="446227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14 authored documents; production should refresh automatically from official sources.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995928"/>
            <a:ext cx="146304" cy="146304"/>
          </a:xfrm>
          <a:prstGeom prst="ellipse">
            <a:avLst/>
          </a:prstGeom>
          <a:solidFill>
            <a:srgbClr val="D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913632"/>
            <a:ext cx="446227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Citation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4197096"/>
            <a:ext cx="446227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One weather answer used correct live data but missed its source citation.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76272"/>
            <a:ext cx="46634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E5A63"/>
                </a:solidFill>
                <a:latin typeface="Aptos"/>
              </a:rPr>
              <a:t>FUTURE WORK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2688336"/>
            <a:ext cx="146304" cy="146304"/>
          </a:xfrm>
          <a:prstGeom prst="ellipse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446227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Production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889504"/>
            <a:ext cx="446227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Move toward AWS Bedrock + OpenSearch for scale and maintainability.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3995928"/>
            <a:ext cx="146304" cy="146304"/>
          </a:xfrm>
          <a:prstGeom prst="ellipse">
            <a:avLst/>
          </a:prstGeom>
          <a:solidFill>
            <a:srgbClr val="0E5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3913632"/>
            <a:ext cx="446227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2343B"/>
                </a:solidFill>
                <a:latin typeface="Aptos Display"/>
              </a:rPr>
              <a:t>Richer visitor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197096"/>
            <a:ext cx="4462272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66757A"/>
                </a:solidFill>
                <a:latin typeface="Aptos"/>
              </a:rPr>
              <a:t>Photo input for signs/menus, persistent memory, and LoRA tone fine-tuning.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13232"/>
            <a:ext cx="4572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9D9D8"/>
                </a:solidFill>
                <a:latin typeface="Aptos"/>
              </a:rPr>
              <a:t>TOYAMA BUDDY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84124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 Display"/>
              </a:rPr>
              <a:t>Travel guidance that checks
before it recommends.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456432"/>
            <a:ext cx="8503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0" i="0" dirty="0">
                <a:solidFill>
                  <a:srgbClr val="D7E9E8"/>
                </a:solidFill>
                <a:latin typeface="Aptos"/>
              </a:rPr>
              <a:t>Thank you — 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567428"/>
            <a:ext cx="4928616" cy="1312163"/>
          </a:xfrm>
          <a:prstGeom prst="roundRect">
            <a:avLst>
              <a:gd name="adj" fmla="val 12000"/>
            </a:avLst>
          </a:prstGeom>
          <a:solidFill>
            <a:srgbClr val="1E4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837176"/>
            <a:ext cx="429768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1600" b="1" i="0" dirty="0">
                <a:solidFill>
                  <a:srgbClr val="FFFFFF"/>
                </a:solidFill>
                <a:latin typeface="Aptos"/>
              </a:rPr>
              <a:t>GitHub: [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https://github.com/Muhammad-Bilal-Arshad/toyama-buddy/blob/main/toyama_buddy.ipynb</a:t>
            </a:r>
            <a:r>
              <a:rPr sz="1600" b="1" i="0" dirty="0">
                <a:solidFill>
                  <a:srgbClr val="FFFFFF"/>
                </a:solidFill>
                <a:latin typeface="Aptos"/>
              </a:rPr>
              <a:t>]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949440" y="3383280"/>
            <a:ext cx="1920240" cy="2423160"/>
          </a:xfrm>
          <a:prstGeom prst="line">
            <a:avLst/>
          </a:prstGeom>
          <a:ln w="38100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3383280"/>
            <a:ext cx="1737360" cy="2423160"/>
          </a:xfrm>
          <a:prstGeom prst="line">
            <a:avLst/>
          </a:prstGeom>
          <a:ln w="38100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961120" y="4343400"/>
            <a:ext cx="1371600" cy="1463040"/>
          </a:xfrm>
          <a:prstGeom prst="line">
            <a:avLst/>
          </a:prstGeom>
          <a:ln w="38100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332720" y="4343400"/>
            <a:ext cx="1828800" cy="1463040"/>
          </a:xfrm>
          <a:prstGeom prst="line">
            <a:avLst/>
          </a:prstGeom>
          <a:ln w="38100">
            <a:solidFill>
              <a:srgbClr val="3867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893808" y="1143000"/>
            <a:ext cx="1143000" cy="1143000"/>
          </a:xfrm>
          <a:prstGeom prst="ellipse">
            <a:avLst/>
          </a:prstGeom>
          <a:solidFill>
            <a:srgbClr val="E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00" b="1" i="0">
                <a:solidFill>
                  <a:srgbClr val="66757A"/>
                </a:solidFill>
                <a:latin typeface="Aptos"/>
              </a:rPr>
              <a:t>TOYAMA BUDDY  •  FINAL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519672"/>
            <a:ext cx="7772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66757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681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Bilal Arshad</dc:creator>
  <cp:keywords/>
  <dc:description>generated using python-pptx</dc:description>
  <cp:lastModifiedBy>Bilal Arshad</cp:lastModifiedBy>
  <cp:revision>3</cp:revision>
  <dcterms:created xsi:type="dcterms:W3CDTF">2013-01-27T09:14:16Z</dcterms:created>
  <dcterms:modified xsi:type="dcterms:W3CDTF">2026-09-17T12:41:01Z</dcterms:modified>
  <cp:category/>
</cp:coreProperties>
</file>